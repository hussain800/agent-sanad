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3D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80944"/>
            <a:ext cx="12191695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D6A8"/>
                </a:solidFill>
                <a:latin typeface="Calibri"/>
              </a:defRPr>
            </a:pPr>
            <a:r>
              <a:t>Agentera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Calibri"/>
              </a:defRPr>
            </a:pPr>
            <a:r>
              <a:t>Agent Sanad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E8D6A8"/>
                </a:solidFill>
                <a:latin typeface="Calibri"/>
              </a:defRPr>
            </a:pPr>
            <a:r>
              <a:t>AI Agent for Housing Loan Arrears Rescheduling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6B5A"/>
                </a:solidFill>
                <a:latin typeface="Calibri"/>
              </a:defRPr>
            </a:pPr>
            <a:r>
              <a:t>Sheikh Zayed Housing Programme  ·  Ministry of Energy &amp; Infrastructure  ·  UAE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A84C"/>
                </a:solidFill>
                <a:latin typeface="Calibri"/>
              </a:defRPr>
            </a:pPr>
            <a:r>
              <a:t>MOEI × 42 Abu Dhabi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0B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C3D0E"/>
                </a:solidFill>
                <a:latin typeface="Calibri"/>
              </a:defRPr>
            </a:pPr>
            <a:r>
              <a:t>Five working days per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3D2E"/>
                </a:solidFill>
                <a:latin typeface="Calibri"/>
              </a:defRPr>
            </a:pPr>
            <a:r>
              <a:t>Today, processing a housing loan arrears rescheduling application is a manual, paper-intensive process.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120640" cy="27432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4864" cy="27432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E1A"/>
                </a:solidFill>
                <a:latin typeface="Calibri"/>
              </a:defRPr>
            </a:pPr>
            <a:r>
              <a:t>For the beneficiary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3D2E"/>
                </a:solidFill>
                <a:latin typeface="Calibri"/>
              </a:defRPr>
            </a:pPr>
            <a:r>
              <a:t>•  Uncertain wait times for a decision</a:t>
            </a:r>
            <a:br/>
            <a:r>
              <a:t>•  No visibility into the process</a:t>
            </a:r>
            <a:br/>
            <a:r>
              <a:t>•  Multiple visits to service centres</a:t>
            </a:r>
            <a:br/>
            <a:r>
              <a:t>•  Inconsistent outcomes across officers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286000"/>
            <a:ext cx="5120640" cy="27432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4864" cy="27432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423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E1A"/>
                </a:solidFill>
                <a:latin typeface="Calibri"/>
              </a:defRPr>
            </a:pPr>
            <a:r>
              <a:t>For the Programme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7889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3D2E"/>
                </a:solidFill>
                <a:latin typeface="Calibri"/>
              </a:defRPr>
            </a:pPr>
            <a:r>
              <a:t>•  High per-case processing cost</a:t>
            </a:r>
            <a:br/>
            <a:r>
              <a:t>•  Officer time on repetitive analysis</a:t>
            </a:r>
            <a:br/>
            <a:r>
              <a:t>•  Inconsistent rule application</a:t>
            </a:r>
            <a:br/>
            <a:r>
              <a:t>•  Growing caseload with fixed staff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8860B"/>
                </a:solidFill>
                <a:latin typeface="Calibri"/>
              </a:defRPr>
            </a:pPr>
            <a:r>
              <a:t>The mandate: compress 5 working days into near-instant 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0B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C3D0E"/>
                </a:solidFill>
                <a:latin typeface="Calibri"/>
              </a:defRPr>
            </a:pPr>
            <a:r>
              <a:t>Agent Sanad: governed, instant, auditable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3D2E"/>
                </a:solidFill>
                <a:latin typeface="Calibri"/>
              </a:defRPr>
            </a:pPr>
            <a:r>
              <a:t>A specialised AI casework agent that does the officer’s entire job in under one second. The LLM reads and explains; deterministic code decides the money; a human officer owns exceptions.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3474720" cy="2011680"/>
          </a:xfrm>
          <a:prstGeom prst="rect">
            <a:avLst/>
          </a:prstGeom>
          <a:solidFill>
            <a:srgbClr val="5C3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9A84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LLM reads &amp; explains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91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D6A8"/>
                </a:solidFill>
                <a:latin typeface="Calibri"/>
              </a:defRPr>
            </a:pPr>
            <a:r>
              <a:t>Extracts fields from documents and writes plain-language reasoning. Never computes an installment or chooses a path. Read-only by construction.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377440"/>
            <a:ext cx="3474720" cy="2011680"/>
          </a:xfrm>
          <a:prstGeom prst="rect">
            <a:avLst/>
          </a:prstGeom>
          <a:solidFill>
            <a:srgbClr val="5C3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9A84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Deterministic code decides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3291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D6A8"/>
                </a:solidFill>
                <a:latin typeface="Calibri"/>
              </a:defRPr>
            </a:pPr>
            <a:r>
              <a:t>The 20% cap, headroom calculation, path selection, and period compliance are enforced in deterministic Python. All unit-tested and benchmarked.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377440"/>
            <a:ext cx="3474720" cy="2011680"/>
          </a:xfrm>
          <a:prstGeom prst="rect">
            <a:avLst/>
          </a:prstGeom>
          <a:solidFill>
            <a:srgbClr val="5C3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9A84C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926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Human officer owns exceptions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291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D6A8"/>
                </a:solidFill>
                <a:latin typeface="Calibri"/>
              </a:defRPr>
            </a:pPr>
            <a:r>
              <a:t>High-risk, contradictory, or uncertain cases are referred with a complete evidence-linked audit trail. The officer approves, adjusts, or escalates.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54880"/>
            <a:ext cx="1737360" cy="14630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754880"/>
            <a:ext cx="173736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E1A"/>
                </a:solidFill>
                <a:latin typeface="Calibri"/>
              </a:defRPr>
            </a:pPr>
            <a:r>
              <a:t>UAE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12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6B5A"/>
                </a:solidFill>
                <a:latin typeface="Calibri"/>
              </a:defRPr>
            </a:pPr>
            <a:r>
              <a:t>Identity verification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4754880"/>
            <a:ext cx="1737360" cy="14630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77440" y="4754880"/>
            <a:ext cx="173736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4892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E1A"/>
                </a:solidFill>
                <a:latin typeface="Calibri"/>
              </a:defRPr>
            </a:pPr>
            <a:r>
              <a:t>Loan &amp; Arrears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212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6B5A"/>
                </a:solidFill>
                <a:latin typeface="Calibri"/>
              </a:defRPr>
            </a:pPr>
            <a:r>
              <a:t>Auto-retrieved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754880"/>
            <a:ext cx="1737360" cy="14630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4754880"/>
            <a:ext cx="173736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4892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E1A"/>
                </a:solidFill>
                <a:latin typeface="Calibri"/>
              </a:defRPr>
            </a:pPr>
            <a:r>
              <a:t>Salary Cert.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212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6B5A"/>
                </a:solidFill>
                <a:latin typeface="Calibri"/>
              </a:defRPr>
            </a:pPr>
            <a:r>
              <a:t>Document parsing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754880"/>
            <a:ext cx="1737360" cy="14630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754880"/>
            <a:ext cx="173736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892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E1A"/>
                </a:solidFill>
                <a:latin typeface="Calibri"/>
              </a:defRPr>
            </a:pPr>
            <a:r>
              <a:t>Policy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212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6B5A"/>
                </a:solidFill>
                <a:latin typeface="Calibri"/>
              </a:defRPr>
            </a:pPr>
            <a:r>
              <a:t>20% cap + rules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4754880"/>
            <a:ext cx="1737360" cy="14630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4754880"/>
            <a:ext cx="173736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4892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E1A"/>
                </a:solidFill>
                <a:latin typeface="Calibri"/>
              </a:defRPr>
            </a:pPr>
            <a:r>
              <a:t>Section-8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212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6B5A"/>
                </a:solidFill>
                <a:latin typeface="Calibri"/>
              </a:defRPr>
            </a:pPr>
            <a:r>
              <a:t>12-field output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0" y="4754880"/>
            <a:ext cx="1737360" cy="14630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58400" y="4754880"/>
            <a:ext cx="173736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0" y="4892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E1A"/>
                </a:solidFill>
                <a:latin typeface="Calibri"/>
              </a:defRPr>
            </a:pPr>
            <a:r>
              <a:t>Human Escalation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5212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6B5A"/>
                </a:solidFill>
                <a:latin typeface="Calibri"/>
              </a:defRPr>
            </a:pPr>
            <a:r>
              <a:t>Evidence-linked audit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0B"/>
                </a:solidFill>
                <a:latin typeface="Calibri"/>
              </a:defRPr>
            </a:pPr>
            <a:r>
              <a:t>Policy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C3D0E"/>
                </a:solidFill>
                <a:latin typeface="Calibri"/>
              </a:defRPr>
            </a:pPr>
            <a:r>
              <a:t>Three official rules, enforced in deterministic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3D2E"/>
                </a:solidFill>
                <a:latin typeface="Calibri"/>
              </a:defRPr>
            </a:pPr>
            <a:r>
              <a:t>The policy engine implements MOEI’s governance rules as deterministic gates. No LLM can override them. No officer can bypass the audit log.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50292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762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103120"/>
            <a:ext cx="10058400" cy="50292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13055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E1A"/>
                </a:solidFill>
                <a:latin typeface="Calibri"/>
              </a:defRPr>
            </a:pPr>
            <a:r>
              <a:t>20% Deduction Cap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5915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3D2E"/>
                </a:solidFill>
                <a:latin typeface="Calibri"/>
              </a:defRPr>
            </a:pPr>
            <a:r>
              <a:t>Monthly deduction must not exceed 20% of verified income. Hard-checked. Surfaces as a Pass/Fail compliance chip on every recommendation report.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74720"/>
            <a:ext cx="50292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478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474720"/>
            <a:ext cx="10058400" cy="50292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50215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E1A"/>
                </a:solidFill>
                <a:latin typeface="Calibri"/>
              </a:defRPr>
            </a:pPr>
            <a:r>
              <a:t>Period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3075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3D2E"/>
                </a:solidFill>
                <a:latin typeface="Calibri"/>
              </a:defRPr>
            </a:pPr>
            <a:r>
              <a:t>The proposed repayment schedule must not exceed the original approved loan term. Per-path check fires rule TEN-01 if breached.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846320"/>
            <a:ext cx="50292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19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846320"/>
            <a:ext cx="10058400" cy="50292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87375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E1A"/>
                </a:solidFill>
                <a:latin typeface="Calibri"/>
              </a:defRPr>
            </a:pPr>
            <a:r>
              <a:t>Active Request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10235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3D2E"/>
                </a:solidFill>
                <a:latin typeface="Calibri"/>
              </a:defRPr>
            </a:pPr>
            <a:r>
              <a:t>If an active rescheduling request already exists, the case is rejected at gate one, before any financial computation. Fires ACTIVE-01.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486400"/>
            <a:ext cx="10728655" cy="9144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3D2E"/>
                </a:solidFill>
                <a:latin typeface="Calibri"/>
              </a:defRPr>
            </a:pPr>
            <a:r>
              <a:t>14 rule IDs total  ·  Each has a deterministic effect on the recommendation  ·  Rules include: INC-01 (income contradiction), OBL-01 (obligations &gt;60%), FAM-01 (low income per member), HARD-01/02 (hardship), RSK-01 (injection detection), CAP-01/02 (headroom), TEN-01 (period breach)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0B"/>
                </a:solidFill>
                <a:latin typeface="Calibri"/>
              </a:defRPr>
            </a:pPr>
            <a:r>
              <a:t>Proof Against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C3D0E"/>
                </a:solidFill>
                <a:latin typeface="Calibri"/>
              </a:defRPr>
            </a:pPr>
            <a:r>
              <a:t>94.6% path-match on real MOEI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3D2E"/>
                </a:solidFill>
                <a:latin typeface="Calibri"/>
              </a:defRPr>
            </a:pPr>
            <a:r>
              <a:t>The deterministic engine was replayed against 1,960 real historical decisions from 2023–2025. Calibrated on 2023–2024, validated on held-out 2025 cases.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560320" cy="2286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256032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E1A"/>
                </a:solidFill>
                <a:latin typeface="Calibri"/>
              </a:defRPr>
            </a:pPr>
            <a:r>
              <a:t>94.6%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A6B5A"/>
                </a:solidFill>
                <a:latin typeface="Calibri"/>
              </a:defRPr>
            </a:pPr>
            <a:r>
              <a:t>Path-match accuracy</a:t>
            </a:r>
            <a:br/>
            <a:r>
              <a:t>held-out 2025</a:t>
            </a:r>
            <a:br/>
            <a:r>
              <a:t>n = 522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103120"/>
            <a:ext cx="2560320" cy="2286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2103120"/>
            <a:ext cx="256032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E1A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017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A6B5A"/>
                </a:solidFill>
                <a:latin typeface="Calibri"/>
              </a:defRPr>
            </a:pPr>
            <a:r>
              <a:t>UPDATE plans within</a:t>
            </a:r>
            <a:br/>
            <a:r>
              <a:t>the 20% cap</a:t>
            </a:r>
            <a:br/>
            <a:r>
              <a:t>by construction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103120"/>
            <a:ext cx="2560320" cy="2286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103120"/>
            <a:ext cx="256032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E1A"/>
                </a:solidFill>
                <a:latin typeface="Calibri"/>
              </a:defRPr>
            </a:pPr>
            <a:r>
              <a:t>AED 557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017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A6B5A"/>
                </a:solidFill>
                <a:latin typeface="Calibri"/>
              </a:defRPr>
            </a:pPr>
            <a:r>
              <a:t>Median premium</a:t>
            </a:r>
            <a:br/>
            <a:r>
              <a:t>deviation vs officer</a:t>
            </a:r>
            <a:br/>
            <a:r>
              <a:t>(non-binding)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103120"/>
            <a:ext cx="2560320" cy="2286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2103120"/>
            <a:ext cx="256032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E1A"/>
                </a:solidFill>
                <a:latin typeface="Calibri"/>
              </a:defRPr>
            </a:pPr>
            <a:r>
              <a:t>&lt; 1 second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017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A6B5A"/>
                </a:solidFill>
                <a:latin typeface="Calibri"/>
              </a:defRPr>
            </a:pPr>
            <a:r>
              <a:t>Decision draft latency</a:t>
            </a:r>
            <a:br/>
            <a:r>
              <a:t>vs 5 working days</a:t>
            </a:r>
            <a:br/>
            <a:r>
              <a:t>measured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754880"/>
            <a:ext cx="10728655" cy="36576"/>
          </a:xfrm>
          <a:prstGeom prst="rect">
            <a:avLst/>
          </a:prstGeom>
          <a:solidFill>
            <a:srgbClr val="E6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3D2E"/>
                </a:solidFill>
                <a:latin typeface="Calibri"/>
              </a:defRPr>
            </a:pPr>
            <a:r>
              <a:t>We report path-match, not exact reproduction. In 79.8% of UPDATE cases, officers chose a gentler premium than the cap allows. That discretion is deliberately routed to a human — it is the governance feature, not a bug.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60720"/>
            <a:ext cx="3200400" cy="50292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806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Deterministic re-run: 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5760720"/>
            <a:ext cx="3200400" cy="502920"/>
          </a:xfrm>
          <a:prstGeom prst="rect">
            <a:avLst/>
          </a:prstGeom>
          <a:solidFill>
            <a:srgbClr val="8B5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5806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Premium deviation: AED 557 median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5760720"/>
            <a:ext cx="3200400" cy="502920"/>
          </a:xfrm>
          <a:prstGeom prst="rect">
            <a:avLst/>
          </a:prstGeom>
          <a:solidFill>
            <a:srgbClr val="7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5806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Path-match claim, not exact reproduction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0B"/>
                </a:solidFill>
                <a:latin typeface="Calibri"/>
              </a:defRPr>
            </a:pPr>
            <a:r>
              <a:t>Demo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C3D0E"/>
                </a:solidFill>
                <a:latin typeface="Calibri"/>
              </a:defRPr>
            </a:pPr>
            <a:r>
              <a:t>13 cases exercising every policy 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3D2E"/>
                </a:solidFill>
                <a:latin typeface="Calibri"/>
              </a:defRPr>
            </a:pPr>
            <a:r>
              <a:t>Each fixture was hand-traced through decide() before its test was written. Every gate, path, risk signal, and edge case is covered.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651760" cy="7772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4864" cy="77724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20B"/>
                </a:solidFill>
                <a:latin typeface="Calibri"/>
              </a:defRPr>
            </a:pPr>
            <a:r>
              <a:t>GOLDEN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6B5A"/>
                </a:solidFill>
                <a:latin typeface="Calibri"/>
              </a:defRPr>
            </a:pPr>
            <a:r>
              <a:t>Approve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011680"/>
            <a:ext cx="2651760" cy="7772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011680"/>
            <a:ext cx="54864" cy="7772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20B"/>
                </a:solidFill>
                <a:latin typeface="Calibri"/>
              </a:defRPr>
            </a:pPr>
            <a:r>
              <a:t>NOHEAD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6B5A"/>
                </a:solidFill>
                <a:latin typeface="Calibri"/>
              </a:defRPr>
            </a:pPr>
            <a:r>
              <a:t>Refer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011680"/>
            <a:ext cx="2651760" cy="7772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011680"/>
            <a:ext cx="54864" cy="777240"/>
          </a:xfrm>
          <a:prstGeom prst="rect">
            <a:avLst/>
          </a:prstGeom>
          <a:solidFill>
            <a:srgbClr val="7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20B"/>
                </a:solidFill>
                <a:latin typeface="Calibri"/>
              </a:defRPr>
            </a:pPr>
            <a:r>
              <a:t>MISSING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6B5A"/>
                </a:solidFill>
                <a:latin typeface="Calibri"/>
              </a:defRPr>
            </a:pPr>
            <a:r>
              <a:t>Docs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011680"/>
            <a:ext cx="2651760" cy="7772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011680"/>
            <a:ext cx="54864" cy="77724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20B"/>
                </a:solidFill>
                <a:latin typeface="Calibri"/>
              </a:defRPr>
            </a:pPr>
            <a:r>
              <a:t>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6B5A"/>
                </a:solidFill>
                <a:latin typeface="Calibri"/>
              </a:defRPr>
            </a:pPr>
            <a:r>
              <a:t>Reject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17520"/>
            <a:ext cx="2651760" cy="7772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017520"/>
            <a:ext cx="54864" cy="7772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20B"/>
                </a:solidFill>
                <a:latin typeface="Calibri"/>
              </a:defRPr>
            </a:pPr>
            <a:r>
              <a:t>CONTRA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6B5A"/>
                </a:solidFill>
                <a:latin typeface="Calibri"/>
              </a:defRPr>
            </a:pPr>
            <a:r>
              <a:t>Refer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3017520"/>
            <a:ext cx="2651760" cy="7772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37560" y="3017520"/>
            <a:ext cx="54864" cy="7772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20B"/>
                </a:solidFill>
                <a:latin typeface="Calibri"/>
              </a:defRPr>
            </a:pPr>
            <a:r>
              <a:t>HIGH_OBLIGATIONS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6B5A"/>
                </a:solidFill>
                <a:latin typeface="Calibri"/>
              </a:defRPr>
            </a:pPr>
            <a:r>
              <a:t>Refer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017520"/>
            <a:ext cx="2651760" cy="7772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017520"/>
            <a:ext cx="54864" cy="7772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20B"/>
                </a:solidFill>
                <a:latin typeface="Calibri"/>
              </a:defRPr>
            </a:pPr>
            <a:r>
              <a:t>PERIOD_BREACH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6B5A"/>
                </a:solidFill>
                <a:latin typeface="Calibri"/>
              </a:defRPr>
            </a:pPr>
            <a:r>
              <a:t>Refer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3017520"/>
            <a:ext cx="2651760" cy="7772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3017520"/>
            <a:ext cx="54864" cy="77724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20B"/>
                </a:solidFill>
                <a:latin typeface="Calibri"/>
              </a:defRPr>
            </a:pPr>
            <a:r>
              <a:t>HARDSHIP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6B5A"/>
                </a:solidFill>
                <a:latin typeface="Calibri"/>
              </a:defRPr>
            </a:pPr>
            <a:r>
              <a:t>Approve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023360"/>
            <a:ext cx="2651760" cy="7772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023360"/>
            <a:ext cx="54864" cy="777240"/>
          </a:xfrm>
          <a:prstGeom prst="rect">
            <a:avLst/>
          </a:prstGeom>
          <a:solidFill>
            <a:srgbClr val="7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20B"/>
                </a:solidFill>
                <a:latin typeface="Calibri"/>
              </a:defRPr>
            </a:pPr>
            <a:r>
              <a:t>ZERO_INCOME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6B5A"/>
                </a:solidFill>
                <a:latin typeface="Calibri"/>
              </a:defRPr>
            </a:pPr>
            <a:r>
              <a:t>Docs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37560" y="4023360"/>
            <a:ext cx="2651760" cy="7772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37560" y="4023360"/>
            <a:ext cx="54864" cy="77724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2044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20B"/>
                </a:solidFill>
                <a:latin typeface="Calibri"/>
              </a:defRPr>
            </a:pPr>
            <a:r>
              <a:t>LOW_INCOME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044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6B5A"/>
                </a:solidFill>
                <a:latin typeface="Calibri"/>
              </a:defRPr>
            </a:pPr>
            <a:r>
              <a:t>Approve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023360"/>
            <a:ext cx="2651760" cy="7772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4023360"/>
            <a:ext cx="54864" cy="7772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20B"/>
                </a:solidFill>
                <a:latin typeface="Calibri"/>
              </a:defRPr>
            </a:pPr>
            <a:r>
              <a:t>UNVERIFIED_HARDSHIP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6B5A"/>
                </a:solidFill>
                <a:latin typeface="Calibri"/>
              </a:defRPr>
            </a:pPr>
            <a:r>
              <a:t>Refer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98280" y="4023360"/>
            <a:ext cx="2651760" cy="7772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98280" y="4023360"/>
            <a:ext cx="54864" cy="77724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8116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20B"/>
                </a:solidFill>
                <a:latin typeface="Calibri"/>
              </a:defRPr>
            </a:pPr>
            <a:r>
              <a:t>INJECTION_ONLY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6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6B5A"/>
                </a:solidFill>
                <a:latin typeface="Calibri"/>
              </a:defRPr>
            </a:pPr>
            <a:r>
              <a:t>Approve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029200"/>
            <a:ext cx="2651760" cy="7772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5029200"/>
            <a:ext cx="54864" cy="77724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20B"/>
                </a:solidFill>
                <a:latin typeface="Calibri"/>
              </a:defRPr>
            </a:pPr>
            <a:r>
              <a:t>HIGH_CAPACITY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6B5A"/>
                </a:solidFill>
                <a:latin typeface="Calibri"/>
              </a:defRPr>
            </a:pPr>
            <a:r>
              <a:t>Approve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486400"/>
            <a:ext cx="11277295" cy="9144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E1A"/>
                </a:solidFill>
                <a:latin typeface="Calibri"/>
              </a:defRPr>
            </a:pPr>
            <a:r>
              <a:t>Outcome distribution: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5943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20B"/>
                </a:solidFill>
                <a:latin typeface="Calibri"/>
              </a:defRPr>
            </a:pPr>
            <a:r>
              <a:t>Approve: 5 cases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6217920"/>
            <a:ext cx="984738" cy="109728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83280" y="5943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20B"/>
                </a:solidFill>
                <a:latin typeface="Calibri"/>
              </a:defRPr>
            </a:pPr>
            <a:r>
              <a:t>Refer to officer: 5 cases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83280" y="6217920"/>
            <a:ext cx="984738" cy="109728"/>
          </a:xfrm>
          <a:prstGeom prst="rect">
            <a:avLst/>
          </a:prstGeom>
          <a:solidFill>
            <a:srgbClr val="8B5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26480" y="5943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20B"/>
                </a:solidFill>
                <a:latin typeface="Calibri"/>
              </a:defRPr>
            </a:pPr>
            <a:r>
              <a:t>Request documents: 2 cases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26480" y="6217920"/>
            <a:ext cx="393895" cy="109728"/>
          </a:xfrm>
          <a:prstGeom prst="rect">
            <a:avLst/>
          </a:prstGeom>
          <a:solidFill>
            <a:srgbClr val="7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69680" y="5943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20B"/>
                </a:solidFill>
                <a:latin typeface="Calibri"/>
              </a:defRPr>
            </a:pPr>
            <a:r>
              <a:t>Reject: 1 cases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869680" y="6217920"/>
            <a:ext cx="196947" cy="10972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0B"/>
                </a:solidFill>
                <a:latin typeface="Calibri"/>
              </a:defRPr>
            </a:pPr>
            <a:r>
              <a:t>Engineering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C3D0E"/>
                </a:solidFill>
                <a:latin typeface="Calibri"/>
              </a:defRPr>
            </a:pPr>
            <a:r>
              <a:t>Built to the IBM Research 7-skills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3D2E"/>
                </a:solidFill>
                <a:latin typeface="Calibri"/>
              </a:defRPr>
            </a:pPr>
            <a:r>
              <a:t>Agent Sanad is engineered across all seven disciplines that separate a production agent from a prompt experiment.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303520" cy="10058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457200" cy="1005840"/>
          </a:xfrm>
          <a:prstGeom prst="rect">
            <a:avLst/>
          </a:prstGeom>
          <a:solidFill>
            <a:srgbClr val="5C3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48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E1A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688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3D2E"/>
                </a:solidFill>
                <a:latin typeface="Calibri"/>
              </a:defRPr>
            </a:pPr>
            <a:r>
              <a:t>Explicit 8-state machine. Hard LLM/deterministic/human boundary. Not a free-form chatbot.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5303520" cy="10058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457200" cy="1005840"/>
          </a:xfrm>
          <a:prstGeom prst="rect">
            <a:avLst/>
          </a:prstGeom>
          <a:solidFill>
            <a:srgbClr val="5C3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148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E1A"/>
                </a:solidFill>
                <a:latin typeface="Calibri"/>
              </a:defRPr>
            </a:pPr>
            <a:r>
              <a:t>Tool &amp; Contract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4688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3D2E"/>
                </a:solidFill>
                <a:latin typeface="Calibri"/>
              </a:defRPr>
            </a:pPr>
            <a:r>
              <a:t>Pydantic v2 with extra=“forbid” on every payload. Five typed adapter contracts.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200400"/>
            <a:ext cx="5303520" cy="10058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200400"/>
            <a:ext cx="457200" cy="1005840"/>
          </a:xfrm>
          <a:prstGeom prst="rect">
            <a:avLst/>
          </a:prstGeom>
          <a:solidFill>
            <a:srgbClr val="5C3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429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337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E1A"/>
                </a:solidFill>
                <a:latin typeface="Calibri"/>
              </a:defRPr>
            </a:pPr>
            <a:r>
              <a:t>Retrieval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657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3D2E"/>
                </a:solidFill>
                <a:latin typeface="Calibri"/>
              </a:defRPr>
            </a:pPr>
            <a:r>
              <a:t>Five fixture-backed adapters. Cached extraction fallback. No RAG ambiguity.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200400"/>
            <a:ext cx="5303520" cy="10058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200400"/>
            <a:ext cx="457200" cy="1005840"/>
          </a:xfrm>
          <a:prstGeom prst="rect">
            <a:avLst/>
          </a:prstGeom>
          <a:solidFill>
            <a:srgbClr val="5C3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429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337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E1A"/>
                </a:solidFill>
                <a:latin typeface="Calibri"/>
              </a:defRPr>
            </a:pPr>
            <a:r>
              <a:t>Reliability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657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3D2E"/>
                </a:solidFill>
                <a:latin typeface="Calibri"/>
              </a:defRPr>
            </a:pPr>
            <a:r>
              <a:t>Offline-first default. Cached fallbacks. Stale-port guard. Auto graph-fallback. 165 tests.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389120"/>
            <a:ext cx="5303520" cy="10058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389120"/>
            <a:ext cx="457200" cy="1005840"/>
          </a:xfrm>
          <a:prstGeom prst="rect">
            <a:avLst/>
          </a:prstGeom>
          <a:solidFill>
            <a:srgbClr val="5C3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617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5262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E1A"/>
                </a:solidFill>
                <a:latin typeface="Calibri"/>
              </a:defRPr>
            </a:pPr>
            <a:r>
              <a:t>Security &amp; Safety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846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3D2E"/>
                </a:solidFill>
                <a:latin typeface="Calibri"/>
              </a:defRPr>
            </a:pPr>
            <a:r>
              <a:t>Untrusted documents (RSK-01). Read-only LLM. XSS-escaped UI. PII redaction interlock.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389120"/>
            <a:ext cx="5303520" cy="10058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4389120"/>
            <a:ext cx="457200" cy="1005840"/>
          </a:xfrm>
          <a:prstGeom prst="rect">
            <a:avLst/>
          </a:prstGeom>
          <a:solidFill>
            <a:srgbClr val="5C3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4617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5262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E1A"/>
                </a:solidFill>
                <a:latin typeface="Calibri"/>
              </a:defRPr>
            </a:pPr>
            <a:r>
              <a:t>Evaluation &amp; Observability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846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3D2E"/>
                </a:solidFill>
                <a:latin typeface="Calibri"/>
              </a:defRPr>
            </a:pPr>
            <a:r>
              <a:t>94.6% historical benchmark. Append-only audit trail. LangSmith-ready tracing.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577840"/>
            <a:ext cx="5303520" cy="100584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5577840"/>
            <a:ext cx="457200" cy="1005840"/>
          </a:xfrm>
          <a:prstGeom prst="rect">
            <a:avLst/>
          </a:prstGeom>
          <a:solidFill>
            <a:srgbClr val="5C3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806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7150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E1A"/>
                </a:solidFill>
                <a:latin typeface="Calibri"/>
              </a:defRPr>
            </a:pPr>
            <a:r>
              <a:t>Product Thinking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035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3D2E"/>
                </a:solidFill>
                <a:latin typeface="Calibri"/>
              </a:defRPr>
            </a:pPr>
            <a:r>
              <a:t>Dual surfaces: beneficiary (status only) and officer (full evidence). Evidence Repair Loop. Exception Studio.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0B"/>
                </a:solidFill>
                <a:latin typeface="Calibri"/>
              </a:defRPr>
            </a:pPr>
            <a:r>
              <a:t>Beyond the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C3D0E"/>
                </a:solidFill>
                <a:latin typeface="Calibri"/>
              </a:defRPr>
            </a:pPr>
            <a:r>
              <a:t>Production-ready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3D2E"/>
                </a:solidFill>
                <a:latin typeface="Calibri"/>
              </a:defRPr>
            </a:pPr>
            <a:r>
              <a:t>Optional but fully implemented: industry-standard tooling that proves the architecture scales to production.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303520" cy="173736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30352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E1A"/>
                </a:solidFill>
                <a:latin typeface="Calibri"/>
              </a:defRPr>
            </a:pPr>
            <a:r>
              <a:t>Live Policy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3D2E"/>
                </a:solidFill>
                <a:latin typeface="Calibri"/>
              </a:defRPr>
            </a:pPr>
            <a:r>
              <a:t>MOEI can adjust thresholds (20% cap, headroom minimum, obligations ratio) via PUT /admin/policy. No server restart. No developer involvement. Changes apply to the next decision.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5303520" cy="173736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530352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94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E1A"/>
                </a:solidFill>
                <a:latin typeface="Calibri"/>
              </a:defRPr>
            </a:pPr>
            <a:r>
              <a:t>What-If Simulator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060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3D2E"/>
                </a:solidFill>
                <a:latin typeface="Calibri"/>
              </a:defRPr>
            </a:pPr>
            <a:r>
              <a:t>“What if this beneficiary earned AED 5,000 instead of AED 16,000?” Post any override to /simulate/what-if/{case} and receive the exact decision delta — side by side comparison with the original outcome.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5303520" cy="173736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530352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06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E1A"/>
                </a:solidFill>
                <a:latin typeface="Calibri"/>
              </a:defRPr>
            </a:pPr>
            <a:r>
              <a:t>Real-Time SSE Streaming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177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3D2E"/>
                </a:solidFill>
                <a:latin typeface="Calibri"/>
              </a:defRPr>
            </a:pPr>
            <a:r>
              <a:t>The /demo/stream/{case} endpoint streams each step of the decision pipeline live via Server-Sent Events. Shows the agent “thinking” step by step for demos, training, and audit.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023360"/>
            <a:ext cx="5303520" cy="173736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023360"/>
            <a:ext cx="530352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206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E1A"/>
                </a:solidFill>
                <a:latin typeface="Calibri"/>
              </a:defRPr>
            </a:pPr>
            <a:r>
              <a:t>Batch Analysis &amp; Docker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6177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3D2E"/>
                </a:solidFill>
                <a:latin typeface="Calibri"/>
              </a:defRPr>
            </a:pPr>
            <a:r>
              <a:t>Run all 13 demo cases in a single API call for a full comparison matrix. One-command production deployment: docker-compose up with healthcheck, volume persistence, and restart policy.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3D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63824"/>
            <a:ext cx="12191695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Agent Sanad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D6A8"/>
                </a:solidFill>
                <a:latin typeface="Calibri"/>
              </a:defRPr>
            </a:pPr>
            <a:r>
              <a:t>Not a chatbot. A governed, auditable casework system that MOEI could pilot tomorrow.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57784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  <a:latin typeface="Calibri"/>
              </a:defRPr>
            </a:pPr>
            <a:r>
              <a:t>github.com/Hussain800/Agent-Sanad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035040"/>
            <a:ext cx="9448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6B5A"/>
                </a:solidFill>
                <a:latin typeface="Calibri"/>
              </a:defRPr>
            </a:pPr>
            <a:r>
              <a:t>Sheikh Zayed Housing Programme  ·  Ministry of Energy &amp; Infrastructure  · 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